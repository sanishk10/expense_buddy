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 Bold" charset="1" panose="020F0702030404030204"/>
      <p:regular r:id="rId22"/>
    </p:embeddedFont>
    <p:embeddedFont>
      <p:font typeface="Calibri (MS)" charset="1" panose="020F0502020204030204"/>
      <p:regular r:id="rId23"/>
    </p:embeddedFont>
    <p:embeddedFont>
      <p:font typeface="Calibri (MS) Italics" charset="1" panose="020F05020202040A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658617"/>
            <a:ext cx="4414523" cy="3317243"/>
            <a:chOff x="0" y="0"/>
            <a:chExt cx="5886031" cy="4422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886069">
                  <a:moveTo>
                    <a:pt x="0" y="2211451"/>
                  </a:moveTo>
                  <a:cubicBezTo>
                    <a:pt x="0" y="990092"/>
                    <a:pt x="1317625" y="0"/>
                    <a:pt x="2942971" y="0"/>
                  </a:cubicBezTo>
                  <a:cubicBezTo>
                    <a:pt x="4568317" y="0"/>
                    <a:pt x="5886069" y="990092"/>
                    <a:pt x="5886069" y="2211451"/>
                  </a:cubicBezTo>
                  <a:cubicBezTo>
                    <a:pt x="5886069" y="3432810"/>
                    <a:pt x="4568444" y="4423029"/>
                    <a:pt x="2942971" y="4423029"/>
                  </a:cubicBezTo>
                  <a:cubicBezTo>
                    <a:pt x="1317498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62A0EF">
                <a:alpha val="56078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14983" y="8582663"/>
            <a:ext cx="4048763" cy="3317243"/>
            <a:chOff x="0" y="0"/>
            <a:chExt cx="5398351" cy="442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38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398389">
                  <a:moveTo>
                    <a:pt x="0" y="2211451"/>
                  </a:moveTo>
                  <a:cubicBezTo>
                    <a:pt x="0" y="990092"/>
                    <a:pt x="1208405" y="0"/>
                    <a:pt x="2699131" y="0"/>
                  </a:cubicBezTo>
                  <a:cubicBezTo>
                    <a:pt x="4189857" y="0"/>
                    <a:pt x="5398389" y="990092"/>
                    <a:pt x="5398389" y="2211451"/>
                  </a:cubicBezTo>
                  <a:cubicBezTo>
                    <a:pt x="5398389" y="3432810"/>
                    <a:pt x="4189857" y="4423029"/>
                    <a:pt x="2699131" y="4423029"/>
                  </a:cubicBezTo>
                  <a:cubicBezTo>
                    <a:pt x="1208405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119623" y="993143"/>
            <a:ext cx="4048763" cy="756923"/>
            <a:chOff x="0" y="0"/>
            <a:chExt cx="5398351" cy="10092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8389" cy="1009269"/>
            </a:xfrm>
            <a:custGeom>
              <a:avLst/>
              <a:gdLst/>
              <a:ahLst/>
              <a:cxnLst/>
              <a:rect r="r" b="b" t="t" l="l"/>
              <a:pathLst>
                <a:path h="1009269" w="5398389">
                  <a:moveTo>
                    <a:pt x="0" y="252349"/>
                  </a:moveTo>
                  <a:cubicBezTo>
                    <a:pt x="0" y="112903"/>
                    <a:pt x="112903" y="0"/>
                    <a:pt x="252349" y="0"/>
                  </a:cubicBezTo>
                  <a:lnTo>
                    <a:pt x="5146040" y="0"/>
                  </a:lnTo>
                  <a:cubicBezTo>
                    <a:pt x="5285359" y="0"/>
                    <a:pt x="5398389" y="112903"/>
                    <a:pt x="5398389" y="252349"/>
                  </a:cubicBezTo>
                  <a:lnTo>
                    <a:pt x="5398389" y="756920"/>
                  </a:lnTo>
                  <a:cubicBezTo>
                    <a:pt x="5398389" y="896239"/>
                    <a:pt x="5285486" y="1009269"/>
                    <a:pt x="5146040" y="1009269"/>
                  </a:cubicBezTo>
                  <a:lnTo>
                    <a:pt x="252349" y="1009269"/>
                  </a:lnTo>
                  <a:cubicBezTo>
                    <a:pt x="112903" y="1009269"/>
                    <a:pt x="0" y="896239"/>
                    <a:pt x="0" y="756920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DCEBF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132320" y="1005840"/>
            <a:ext cx="4023360" cy="731520"/>
            <a:chOff x="0" y="0"/>
            <a:chExt cx="536448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3644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B3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 PROJECT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2086955"/>
            <a:ext cx="16459200" cy="2850805"/>
            <a:chOff x="0" y="0"/>
            <a:chExt cx="21945600" cy="38010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3801073"/>
            </a:xfrm>
            <a:custGeom>
              <a:avLst/>
              <a:gdLst/>
              <a:ahLst/>
              <a:cxnLst/>
              <a:rect r="r" b="b" t="t" l="l"/>
              <a:pathLst>
                <a:path h="38010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01073"/>
                  </a:lnTo>
                  <a:lnTo>
                    <a:pt x="0" y="38010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384" r="0" b="-6061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19075"/>
              <a:ext cx="21945600" cy="4020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sz="10800" b="true">
                  <a:solidFill>
                    <a:srgbClr val="0B3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EXPENSE TRACKER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5029200"/>
            <a:ext cx="16459200" cy="731520"/>
            <a:chOff x="0" y="0"/>
            <a:chExt cx="2194560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57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behaviour-first, goal-linked budgeting app built for India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6766560"/>
            <a:ext cx="16459200" cy="731520"/>
            <a:chOff x="0" y="0"/>
            <a:chExt cx="2194560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B3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Obaid Shaikh (2631)  |  Omkar Bordekar (2633)  |  Sanish Kalagutkar (2644)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658617"/>
            <a:ext cx="4414523" cy="3317243"/>
            <a:chOff x="0" y="0"/>
            <a:chExt cx="5886031" cy="4422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886069">
                  <a:moveTo>
                    <a:pt x="0" y="2211451"/>
                  </a:moveTo>
                  <a:cubicBezTo>
                    <a:pt x="0" y="990092"/>
                    <a:pt x="1317625" y="0"/>
                    <a:pt x="2942971" y="0"/>
                  </a:cubicBezTo>
                  <a:cubicBezTo>
                    <a:pt x="4568317" y="0"/>
                    <a:pt x="5886069" y="990092"/>
                    <a:pt x="5886069" y="2211451"/>
                  </a:cubicBezTo>
                  <a:cubicBezTo>
                    <a:pt x="5886069" y="3432810"/>
                    <a:pt x="4568444" y="4423029"/>
                    <a:pt x="2942971" y="4423029"/>
                  </a:cubicBezTo>
                  <a:cubicBezTo>
                    <a:pt x="1317498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62A0EF">
                <a:alpha val="56078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14983" y="8582663"/>
            <a:ext cx="4048763" cy="3317243"/>
            <a:chOff x="0" y="0"/>
            <a:chExt cx="5398351" cy="442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38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398389">
                  <a:moveTo>
                    <a:pt x="0" y="2211451"/>
                  </a:moveTo>
                  <a:cubicBezTo>
                    <a:pt x="0" y="990092"/>
                    <a:pt x="1208405" y="0"/>
                    <a:pt x="2699131" y="0"/>
                  </a:cubicBezTo>
                  <a:cubicBezTo>
                    <a:pt x="4189857" y="0"/>
                    <a:pt x="5398389" y="990092"/>
                    <a:pt x="5398389" y="2211451"/>
                  </a:cubicBezTo>
                  <a:cubicBezTo>
                    <a:pt x="5398389" y="3432810"/>
                    <a:pt x="4189857" y="4423029"/>
                    <a:pt x="2699131" y="4423029"/>
                  </a:cubicBezTo>
                  <a:cubicBezTo>
                    <a:pt x="1208405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499616"/>
            <a:ext cx="16459200" cy="640080"/>
            <a:chOff x="0" y="0"/>
            <a:chExt cx="2194560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B3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smarter way to understand everyday spending - built around real behaviour, not just raw numbers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1703" y="3096263"/>
            <a:ext cx="5237483" cy="4231643"/>
            <a:chOff x="0" y="0"/>
            <a:chExt cx="6983311" cy="56421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3349" cy="5642229"/>
            </a:xfrm>
            <a:custGeom>
              <a:avLst/>
              <a:gdLst/>
              <a:ahLst/>
              <a:cxnLst/>
              <a:rect r="r" b="b" t="t" l="l"/>
              <a:pathLst>
                <a:path h="5642229" w="6983349">
                  <a:moveTo>
                    <a:pt x="0" y="245364"/>
                  </a:moveTo>
                  <a:cubicBezTo>
                    <a:pt x="0" y="109855"/>
                    <a:pt x="109855" y="0"/>
                    <a:pt x="245364" y="0"/>
                  </a:cubicBezTo>
                  <a:lnTo>
                    <a:pt x="6737985" y="0"/>
                  </a:lnTo>
                  <a:cubicBezTo>
                    <a:pt x="6873494" y="0"/>
                    <a:pt x="6983349" y="109855"/>
                    <a:pt x="6983349" y="245364"/>
                  </a:cubicBezTo>
                  <a:lnTo>
                    <a:pt x="6983349" y="5396865"/>
                  </a:lnTo>
                  <a:cubicBezTo>
                    <a:pt x="6983349" y="5532374"/>
                    <a:pt x="6873494" y="5642229"/>
                    <a:pt x="6737985" y="5642229"/>
                  </a:cubicBezTo>
                  <a:lnTo>
                    <a:pt x="245364" y="5642229"/>
                  </a:lnTo>
                  <a:cubicBezTo>
                    <a:pt x="109855" y="5642229"/>
                    <a:pt x="0" y="5532374"/>
                    <a:pt x="0" y="5396865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" y="3291840"/>
            <a:ext cx="4663440" cy="640080"/>
            <a:chOff x="0" y="0"/>
            <a:chExt cx="621792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Behaviour-first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88720" y="3929634"/>
            <a:ext cx="4663440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Insight over data-entry. The app tells you why money leaks, not just where it went.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79543" y="3096263"/>
            <a:ext cx="5237483" cy="4231643"/>
            <a:chOff x="0" y="0"/>
            <a:chExt cx="6983311" cy="56421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83349" cy="5642229"/>
            </a:xfrm>
            <a:custGeom>
              <a:avLst/>
              <a:gdLst/>
              <a:ahLst/>
              <a:cxnLst/>
              <a:rect r="r" b="b" t="t" l="l"/>
              <a:pathLst>
                <a:path h="5642229" w="6983349">
                  <a:moveTo>
                    <a:pt x="0" y="245364"/>
                  </a:moveTo>
                  <a:cubicBezTo>
                    <a:pt x="0" y="109855"/>
                    <a:pt x="109855" y="0"/>
                    <a:pt x="245364" y="0"/>
                  </a:cubicBezTo>
                  <a:lnTo>
                    <a:pt x="6737985" y="0"/>
                  </a:lnTo>
                  <a:cubicBezTo>
                    <a:pt x="6873494" y="0"/>
                    <a:pt x="6983349" y="109855"/>
                    <a:pt x="6983349" y="245364"/>
                  </a:cubicBezTo>
                  <a:lnTo>
                    <a:pt x="6983349" y="5396865"/>
                  </a:lnTo>
                  <a:cubicBezTo>
                    <a:pt x="6983349" y="5532374"/>
                    <a:pt x="6873494" y="5642229"/>
                    <a:pt x="6737985" y="5642229"/>
                  </a:cubicBezTo>
                  <a:lnTo>
                    <a:pt x="245364" y="5642229"/>
                  </a:lnTo>
                  <a:cubicBezTo>
                    <a:pt x="109855" y="5642229"/>
                    <a:pt x="0" y="5532374"/>
                    <a:pt x="0" y="5396865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766560" y="3291840"/>
            <a:ext cx="4663440" cy="640080"/>
            <a:chOff x="0" y="0"/>
            <a:chExt cx="621792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Goal-linked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766560" y="3929634"/>
            <a:ext cx="4663440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Every rupee is tied to a goal, so each purchase shows its impact on a trip, gadget or emergency fund.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57383" y="3096263"/>
            <a:ext cx="5237483" cy="4231643"/>
            <a:chOff x="0" y="0"/>
            <a:chExt cx="6983311" cy="56421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83349" cy="5642229"/>
            </a:xfrm>
            <a:custGeom>
              <a:avLst/>
              <a:gdLst/>
              <a:ahLst/>
              <a:cxnLst/>
              <a:rect r="r" b="b" t="t" l="l"/>
              <a:pathLst>
                <a:path h="5642229" w="6983349">
                  <a:moveTo>
                    <a:pt x="0" y="245364"/>
                  </a:moveTo>
                  <a:cubicBezTo>
                    <a:pt x="0" y="109855"/>
                    <a:pt x="109855" y="0"/>
                    <a:pt x="245364" y="0"/>
                  </a:cubicBezTo>
                  <a:lnTo>
                    <a:pt x="6737985" y="0"/>
                  </a:lnTo>
                  <a:cubicBezTo>
                    <a:pt x="6873494" y="0"/>
                    <a:pt x="6983349" y="109855"/>
                    <a:pt x="6983349" y="245364"/>
                  </a:cubicBezTo>
                  <a:lnTo>
                    <a:pt x="6983349" y="5396865"/>
                  </a:lnTo>
                  <a:cubicBezTo>
                    <a:pt x="6983349" y="5532374"/>
                    <a:pt x="6873494" y="5642229"/>
                    <a:pt x="6737985" y="5642229"/>
                  </a:cubicBezTo>
                  <a:lnTo>
                    <a:pt x="245364" y="5642229"/>
                  </a:lnTo>
                  <a:cubicBezTo>
                    <a:pt x="109855" y="5642229"/>
                    <a:pt x="0" y="5532374"/>
                    <a:pt x="0" y="5396865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4400" y="3291840"/>
            <a:ext cx="4663440" cy="640080"/>
            <a:chOff x="0" y="0"/>
            <a:chExt cx="621792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India-aware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344400" y="3929634"/>
            <a:ext cx="4663440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Built for UPI, cash, festival and irregular spends that Western apps ignore.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658617"/>
            <a:ext cx="4414523" cy="3317243"/>
            <a:chOff x="0" y="0"/>
            <a:chExt cx="5886031" cy="4422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886069">
                  <a:moveTo>
                    <a:pt x="0" y="2211451"/>
                  </a:moveTo>
                  <a:cubicBezTo>
                    <a:pt x="0" y="990092"/>
                    <a:pt x="1317625" y="0"/>
                    <a:pt x="2942971" y="0"/>
                  </a:cubicBezTo>
                  <a:cubicBezTo>
                    <a:pt x="4568317" y="0"/>
                    <a:pt x="5886069" y="990092"/>
                    <a:pt x="5886069" y="2211451"/>
                  </a:cubicBezTo>
                  <a:cubicBezTo>
                    <a:pt x="5886069" y="3432810"/>
                    <a:pt x="4568444" y="4423029"/>
                    <a:pt x="2942971" y="4423029"/>
                  </a:cubicBezTo>
                  <a:cubicBezTo>
                    <a:pt x="1317498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62A0EF">
                <a:alpha val="56078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14983" y="8582663"/>
            <a:ext cx="4048763" cy="3317243"/>
            <a:chOff x="0" y="0"/>
            <a:chExt cx="5398351" cy="442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38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398389">
                  <a:moveTo>
                    <a:pt x="0" y="2211451"/>
                  </a:moveTo>
                  <a:cubicBezTo>
                    <a:pt x="0" y="990092"/>
                    <a:pt x="1208405" y="0"/>
                    <a:pt x="2699131" y="0"/>
                  </a:cubicBezTo>
                  <a:cubicBezTo>
                    <a:pt x="4189857" y="0"/>
                    <a:pt x="5398389" y="990092"/>
                    <a:pt x="5398389" y="2211451"/>
                  </a:cubicBezTo>
                  <a:cubicBezTo>
                    <a:pt x="5398389" y="3432810"/>
                    <a:pt x="4189857" y="4423029"/>
                    <a:pt x="2699131" y="4423029"/>
                  </a:cubicBezTo>
                  <a:cubicBezTo>
                    <a:pt x="1208405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&amp; Objectives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1703" y="2181863"/>
            <a:ext cx="7980683" cy="6791963"/>
            <a:chOff x="0" y="0"/>
            <a:chExt cx="10640911" cy="90559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40823" cy="9055862"/>
            </a:xfrm>
            <a:custGeom>
              <a:avLst/>
              <a:gdLst/>
              <a:ahLst/>
              <a:cxnLst/>
              <a:rect r="r" b="b" t="t" l="l"/>
              <a:pathLst>
                <a:path h="9055862" w="10640823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10396093" y="0"/>
                  </a:lnTo>
                  <a:cubicBezTo>
                    <a:pt x="10531222" y="0"/>
                    <a:pt x="10640823" y="109601"/>
                    <a:pt x="10640823" y="244729"/>
                  </a:cubicBezTo>
                  <a:lnTo>
                    <a:pt x="10640823" y="8811133"/>
                  </a:lnTo>
                  <a:cubicBezTo>
                    <a:pt x="10640823" y="8946261"/>
                    <a:pt x="10531222" y="9055862"/>
                    <a:pt x="10396093" y="9055862"/>
                  </a:cubicBezTo>
                  <a:lnTo>
                    <a:pt x="244729" y="9055862"/>
                  </a:lnTo>
                  <a:cubicBezTo>
                    <a:pt x="109601" y="9055989"/>
                    <a:pt x="0" y="8946388"/>
                    <a:pt x="0" y="8811133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88720" y="2377440"/>
            <a:ext cx="7406640" cy="640080"/>
            <a:chOff x="0" y="0"/>
            <a:chExt cx="987552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75520" cy="853440"/>
            </a:xfrm>
            <a:custGeom>
              <a:avLst/>
              <a:gdLst/>
              <a:ahLst/>
              <a:cxnLst/>
              <a:rect r="r" b="b" t="t" l="l"/>
              <a:pathLst>
                <a:path h="8534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469" r="0" b="-17546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8755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88720" y="3024759"/>
            <a:ext cx="7406640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Most people know their balance but not their habits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Small daily UPI spends add up unnoticed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Impulse purchases derail savings goals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Festival and seasonal spikes are never planned for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apps just log data - little motivation to change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05623" y="2181863"/>
            <a:ext cx="7980683" cy="6791963"/>
            <a:chOff x="0" y="0"/>
            <a:chExt cx="10640911" cy="90559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40823" cy="9055862"/>
            </a:xfrm>
            <a:custGeom>
              <a:avLst/>
              <a:gdLst/>
              <a:ahLst/>
              <a:cxnLst/>
              <a:rect r="r" b="b" t="t" l="l"/>
              <a:pathLst>
                <a:path h="9055862" w="10640823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10396093" y="0"/>
                  </a:lnTo>
                  <a:cubicBezTo>
                    <a:pt x="10531222" y="0"/>
                    <a:pt x="10640823" y="109601"/>
                    <a:pt x="10640823" y="244729"/>
                  </a:cubicBezTo>
                  <a:lnTo>
                    <a:pt x="10640823" y="8811133"/>
                  </a:lnTo>
                  <a:cubicBezTo>
                    <a:pt x="10640823" y="8946261"/>
                    <a:pt x="10531222" y="9055862"/>
                    <a:pt x="10396093" y="9055862"/>
                  </a:cubicBezTo>
                  <a:lnTo>
                    <a:pt x="244729" y="9055862"/>
                  </a:lnTo>
                  <a:cubicBezTo>
                    <a:pt x="109601" y="9055989"/>
                    <a:pt x="0" y="8946388"/>
                    <a:pt x="0" y="8811133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692640" y="2377440"/>
            <a:ext cx="7406640" cy="640080"/>
            <a:chOff x="0" y="0"/>
            <a:chExt cx="987552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75520" cy="853440"/>
            </a:xfrm>
            <a:custGeom>
              <a:avLst/>
              <a:gdLst/>
              <a:ahLst/>
              <a:cxnLst/>
              <a:rect r="r" b="b" t="t" l="l"/>
              <a:pathLst>
                <a:path h="8534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469" r="0" b="-17546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8755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692645" y="2969895"/>
            <a:ext cx="7406640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Detect impulse purchases and hidden small expenses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Show how each spend affects a savings goal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Keep users engaged with streaks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Plan festival / seasonal expenses in advance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Track emergency savings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Turn spending into a simple monthly story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658617"/>
            <a:ext cx="4414523" cy="3317243"/>
            <a:chOff x="0" y="0"/>
            <a:chExt cx="5886031" cy="4422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886069">
                  <a:moveTo>
                    <a:pt x="0" y="2211451"/>
                  </a:moveTo>
                  <a:cubicBezTo>
                    <a:pt x="0" y="990092"/>
                    <a:pt x="1317625" y="0"/>
                    <a:pt x="2942971" y="0"/>
                  </a:cubicBezTo>
                  <a:cubicBezTo>
                    <a:pt x="4568317" y="0"/>
                    <a:pt x="5886069" y="990092"/>
                    <a:pt x="5886069" y="2211451"/>
                  </a:cubicBezTo>
                  <a:cubicBezTo>
                    <a:pt x="5886069" y="3432810"/>
                    <a:pt x="4568444" y="4423029"/>
                    <a:pt x="2942971" y="4423029"/>
                  </a:cubicBezTo>
                  <a:cubicBezTo>
                    <a:pt x="1317498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62A0EF">
                <a:alpha val="56078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14983" y="8582663"/>
            <a:ext cx="4048763" cy="3317243"/>
            <a:chOff x="0" y="0"/>
            <a:chExt cx="5398351" cy="442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38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398389">
                  <a:moveTo>
                    <a:pt x="0" y="2211451"/>
                  </a:moveTo>
                  <a:cubicBezTo>
                    <a:pt x="0" y="990092"/>
                    <a:pt x="1208405" y="0"/>
                    <a:pt x="2699131" y="0"/>
                  </a:cubicBezTo>
                  <a:cubicBezTo>
                    <a:pt x="4189857" y="0"/>
                    <a:pt x="5398389" y="990092"/>
                    <a:pt x="5398389" y="2211451"/>
                  </a:cubicBezTo>
                  <a:cubicBezTo>
                    <a:pt x="5398389" y="3432810"/>
                    <a:pt x="4189857" y="4423029"/>
                    <a:pt x="2699131" y="4423029"/>
                  </a:cubicBezTo>
                  <a:cubicBezTo>
                    <a:pt x="1208405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Competitive Analysis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499616"/>
            <a:ext cx="16459200" cy="640080"/>
            <a:chOff x="0" y="0"/>
            <a:chExt cx="2194560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B3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Expense Tracker compares with apps Indians use every day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914400" y="2286000"/>
          <a:ext cx="16408400" cy="6359525"/>
        </p:xfrm>
        <a:graphic>
          <a:graphicData uri="http://schemas.openxmlformats.org/drawingml/2006/table">
            <a:tbl>
              <a:tblPr/>
              <a:tblGrid>
                <a:gridCol w="4902449"/>
                <a:gridCol w="2012162"/>
                <a:gridCol w="2012162"/>
                <a:gridCol w="2192805"/>
                <a:gridCol w="2192805"/>
                <a:gridCol w="3096019"/>
              </a:tblGrid>
              <a:tr h="6388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Feature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PhonePe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Paytm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Google Pay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Amazon Pay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Expense Tracker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93C"/>
                    </a:solidFill>
                  </a:tcPr>
                </a:tc>
              </a:tr>
              <a:tr h="7150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Impulse purchase detector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E9E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C"/>
                    </a:solidFill>
                  </a:tcPr>
                </a:tc>
              </a:tr>
              <a:tr h="7150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Hidden small-expense finder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E9E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C"/>
                    </a:solidFill>
                  </a:tcPr>
                </a:tc>
              </a:tr>
              <a:tr h="7150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Goal impact calculator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E9E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C"/>
                    </a:solidFill>
                  </a:tcPr>
                </a:tc>
              </a:tr>
              <a:tr h="7150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Streak-based engagement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E9E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C"/>
                    </a:solidFill>
                  </a:tcPr>
                </a:tc>
              </a:tr>
              <a:tr h="7150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Festival / seasonal planner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E9E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C"/>
                    </a:solidFill>
                  </a:tcPr>
                </a:tc>
              </a:tr>
              <a:tr h="7150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Emergency savings tracker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E9E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C"/>
                    </a:solidFill>
                  </a:tcPr>
                </a:tc>
              </a:tr>
              <a:tr h="7150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Narrative expense story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D9302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E9E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C"/>
                    </a:solidFill>
                  </a:tcPr>
                </a:tc>
              </a:tr>
              <a:tr h="7150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Auto-tracking (UPI / SMS)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E08A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E08A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E08A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E08A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E9E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658617"/>
            <a:ext cx="4414523" cy="3317243"/>
            <a:chOff x="0" y="0"/>
            <a:chExt cx="5886031" cy="4422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886069">
                  <a:moveTo>
                    <a:pt x="0" y="2211451"/>
                  </a:moveTo>
                  <a:cubicBezTo>
                    <a:pt x="0" y="990092"/>
                    <a:pt x="1317625" y="0"/>
                    <a:pt x="2942971" y="0"/>
                  </a:cubicBezTo>
                  <a:cubicBezTo>
                    <a:pt x="4568317" y="0"/>
                    <a:pt x="5886069" y="990092"/>
                    <a:pt x="5886069" y="2211451"/>
                  </a:cubicBezTo>
                  <a:cubicBezTo>
                    <a:pt x="5886069" y="3432810"/>
                    <a:pt x="4568444" y="4423029"/>
                    <a:pt x="2942971" y="4423029"/>
                  </a:cubicBezTo>
                  <a:cubicBezTo>
                    <a:pt x="1317498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62A0EF">
                <a:alpha val="56078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14983" y="8582663"/>
            <a:ext cx="4048763" cy="3317243"/>
            <a:chOff x="0" y="0"/>
            <a:chExt cx="5398351" cy="442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38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398389">
                  <a:moveTo>
                    <a:pt x="0" y="2211451"/>
                  </a:moveTo>
                  <a:cubicBezTo>
                    <a:pt x="0" y="990092"/>
                    <a:pt x="1208405" y="0"/>
                    <a:pt x="2699131" y="0"/>
                  </a:cubicBezTo>
                  <a:cubicBezTo>
                    <a:pt x="4189857" y="0"/>
                    <a:pt x="5398389" y="990092"/>
                    <a:pt x="5398389" y="2211451"/>
                  </a:cubicBezTo>
                  <a:cubicBezTo>
                    <a:pt x="5398389" y="3432810"/>
                    <a:pt x="4189857" y="4423029"/>
                    <a:pt x="2699131" y="4423029"/>
                  </a:cubicBezTo>
                  <a:cubicBezTo>
                    <a:pt x="1208405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Overview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499616"/>
            <a:ext cx="16459200" cy="640080"/>
            <a:chOff x="0" y="0"/>
            <a:chExt cx="2194560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B3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apps most people already use to pay and check spends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914400" y="2560320"/>
          <a:ext cx="16433800" cy="5791200"/>
        </p:xfrm>
        <a:graphic>
          <a:graphicData uri="http://schemas.openxmlformats.org/drawingml/2006/table">
            <a:tbl>
              <a:tblPr/>
              <a:tblGrid>
                <a:gridCol w="2380762"/>
                <a:gridCol w="2199562"/>
                <a:gridCol w="2743161"/>
                <a:gridCol w="4555157"/>
                <a:gridCol w="4555157"/>
              </a:tblGrid>
              <a:tr h="7331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App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Origin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Pricing 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Primary focus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Key gap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A0EF"/>
                    </a:solidFill>
                  </a:tcPr>
                </a:tc>
              </a:tr>
              <a:tr h="12645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1570E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PhonePe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India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UPI payments + spend history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Tracks only in-app payments; no budgets or goals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12645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1570E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Paytm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India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Payments, wallet, bills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Basic spend summary; no behavioural nudges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45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1570E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Google Pay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Global (Google)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UPI payments, rewards, bill pay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Shows spend history only; no budgets or goals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12645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1570E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Amazon Pay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Global (Amazon)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Payments tied to Amazon shopping and bills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223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Limited to own transactions; no goals or nudges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658617"/>
            <a:ext cx="4414523" cy="3317243"/>
            <a:chOff x="0" y="0"/>
            <a:chExt cx="5886031" cy="4422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886069">
                  <a:moveTo>
                    <a:pt x="0" y="2211451"/>
                  </a:moveTo>
                  <a:cubicBezTo>
                    <a:pt x="0" y="990092"/>
                    <a:pt x="1317625" y="0"/>
                    <a:pt x="2942971" y="0"/>
                  </a:cubicBezTo>
                  <a:cubicBezTo>
                    <a:pt x="4568317" y="0"/>
                    <a:pt x="5886069" y="990092"/>
                    <a:pt x="5886069" y="2211451"/>
                  </a:cubicBezTo>
                  <a:cubicBezTo>
                    <a:pt x="5886069" y="3432810"/>
                    <a:pt x="4568444" y="4423029"/>
                    <a:pt x="2942971" y="4423029"/>
                  </a:cubicBezTo>
                  <a:cubicBezTo>
                    <a:pt x="1317498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62A0EF">
                <a:alpha val="56078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14983" y="8582663"/>
            <a:ext cx="4048763" cy="3317243"/>
            <a:chOff x="0" y="0"/>
            <a:chExt cx="5398351" cy="442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38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398389">
                  <a:moveTo>
                    <a:pt x="0" y="2211451"/>
                  </a:moveTo>
                  <a:cubicBezTo>
                    <a:pt x="0" y="990092"/>
                    <a:pt x="1208405" y="0"/>
                    <a:pt x="2699131" y="0"/>
                  </a:cubicBezTo>
                  <a:cubicBezTo>
                    <a:pt x="4189857" y="0"/>
                    <a:pt x="5398389" y="990092"/>
                    <a:pt x="5398389" y="2211451"/>
                  </a:cubicBezTo>
                  <a:cubicBezTo>
                    <a:pt x="5398389" y="3432810"/>
                    <a:pt x="4189857" y="4423029"/>
                    <a:pt x="2699131" y="4423029"/>
                  </a:cubicBezTo>
                  <a:cubicBezTo>
                    <a:pt x="1208405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 Analysis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499616"/>
            <a:ext cx="16459200" cy="640080"/>
            <a:chOff x="0" y="0"/>
            <a:chExt cx="2194560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B3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Payments in India are mature; behavioural spend-tracking is still thin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1703" y="2456183"/>
            <a:ext cx="8072123" cy="3042923"/>
            <a:chOff x="0" y="0"/>
            <a:chExt cx="10762831" cy="40572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742" cy="4057142"/>
            </a:xfrm>
            <a:custGeom>
              <a:avLst/>
              <a:gdLst/>
              <a:ahLst/>
              <a:cxnLst/>
              <a:rect r="r" b="b" t="t" l="l"/>
              <a:pathLst>
                <a:path h="4057142" w="1076274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10516870" y="0"/>
                  </a:lnTo>
                  <a:cubicBezTo>
                    <a:pt x="10652633" y="0"/>
                    <a:pt x="10762742" y="110109"/>
                    <a:pt x="10762742" y="245872"/>
                  </a:cubicBezTo>
                  <a:lnTo>
                    <a:pt x="10762742" y="3811270"/>
                  </a:lnTo>
                  <a:cubicBezTo>
                    <a:pt x="10762742" y="3947033"/>
                    <a:pt x="10652633" y="4057142"/>
                    <a:pt x="1051687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651760"/>
            <a:ext cx="7315200" cy="1097280"/>
            <a:chOff x="0" y="0"/>
            <a:chExt cx="975360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97536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2A0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24.07B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0160" y="3840480"/>
            <a:ext cx="7315200" cy="548640"/>
            <a:chOff x="0" y="0"/>
            <a:chExt cx="97536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753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B3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UPI transactions in Sept 2026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0160" y="4480560"/>
            <a:ext cx="7315200" cy="731520"/>
            <a:chOff x="0" y="0"/>
            <a:chExt cx="975360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753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0B223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worth Rs 29.37 lakh crore, +23% YoY (NPCI)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22743" y="2456183"/>
            <a:ext cx="8072123" cy="3042923"/>
            <a:chOff x="0" y="0"/>
            <a:chExt cx="10762831" cy="40572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62742" cy="4057142"/>
            </a:xfrm>
            <a:custGeom>
              <a:avLst/>
              <a:gdLst/>
              <a:ahLst/>
              <a:cxnLst/>
              <a:rect r="r" b="b" t="t" l="l"/>
              <a:pathLst>
                <a:path h="4057142" w="1076274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10516870" y="0"/>
                  </a:lnTo>
                  <a:cubicBezTo>
                    <a:pt x="10652633" y="0"/>
                    <a:pt x="10762742" y="110109"/>
                    <a:pt x="10762742" y="245872"/>
                  </a:cubicBezTo>
                  <a:lnTo>
                    <a:pt x="10762742" y="3811270"/>
                  </a:lnTo>
                  <a:cubicBezTo>
                    <a:pt x="10762742" y="3947033"/>
                    <a:pt x="10652633" y="4057142"/>
                    <a:pt x="1051687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01200" y="2651760"/>
            <a:ext cx="7315200" cy="1097280"/>
            <a:chOff x="0" y="0"/>
            <a:chExt cx="975360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23825"/>
              <a:ext cx="97536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2A0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1.7B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01200" y="3840480"/>
            <a:ext cx="7315200" cy="548640"/>
            <a:chOff x="0" y="0"/>
            <a:chExt cx="975360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9753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B3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Finance app downloads, 2024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601200" y="4480560"/>
            <a:ext cx="7315200" cy="731520"/>
            <a:chOff x="0" y="0"/>
            <a:chExt cx="975360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753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0B223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India is the world's largest market (Sensor Tower)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1703" y="5839463"/>
            <a:ext cx="8072123" cy="3042923"/>
            <a:chOff x="0" y="0"/>
            <a:chExt cx="10762831" cy="40572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62742" cy="4057142"/>
            </a:xfrm>
            <a:custGeom>
              <a:avLst/>
              <a:gdLst/>
              <a:ahLst/>
              <a:cxnLst/>
              <a:rect r="r" b="b" t="t" l="l"/>
              <a:pathLst>
                <a:path h="4057142" w="1076274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10516870" y="0"/>
                  </a:lnTo>
                  <a:cubicBezTo>
                    <a:pt x="10652633" y="0"/>
                    <a:pt x="10762742" y="110109"/>
                    <a:pt x="10762742" y="245872"/>
                  </a:cubicBezTo>
                  <a:lnTo>
                    <a:pt x="10762742" y="3811270"/>
                  </a:lnTo>
                  <a:cubicBezTo>
                    <a:pt x="10762742" y="3947033"/>
                    <a:pt x="10652633" y="4057142"/>
                    <a:pt x="1051687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80160" y="6035040"/>
            <a:ext cx="7315200" cy="1097280"/>
            <a:chOff x="0" y="0"/>
            <a:chExt cx="9753600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5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23825"/>
              <a:ext cx="97536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2A0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$44.1B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80160" y="7223760"/>
            <a:ext cx="7315200" cy="548640"/>
            <a:chOff x="0" y="0"/>
            <a:chExt cx="97536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9753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B3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India fintech market, 2025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80160" y="7863840"/>
            <a:ext cx="7315200" cy="731520"/>
            <a:chOff x="0" y="0"/>
            <a:chExt cx="9753600" cy="975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753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0B223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projected ~$95.3B by 2030, ~16.7% CAGR (Mordor)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222743" y="5839463"/>
            <a:ext cx="8072123" cy="3042923"/>
            <a:chOff x="0" y="0"/>
            <a:chExt cx="10762831" cy="405723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62742" cy="4057142"/>
            </a:xfrm>
            <a:custGeom>
              <a:avLst/>
              <a:gdLst/>
              <a:ahLst/>
              <a:cxnLst/>
              <a:rect r="r" b="b" t="t" l="l"/>
              <a:pathLst>
                <a:path h="4057142" w="1076274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10516870" y="0"/>
                  </a:lnTo>
                  <a:cubicBezTo>
                    <a:pt x="10652633" y="0"/>
                    <a:pt x="10762742" y="110109"/>
                    <a:pt x="10762742" y="245872"/>
                  </a:cubicBezTo>
                  <a:lnTo>
                    <a:pt x="10762742" y="3811270"/>
                  </a:lnTo>
                  <a:cubicBezTo>
                    <a:pt x="10762742" y="3947033"/>
                    <a:pt x="10652633" y="4057142"/>
                    <a:pt x="1051687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601200" y="6035040"/>
            <a:ext cx="7315200" cy="1097280"/>
            <a:chOff x="0" y="0"/>
            <a:chExt cx="975360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23825"/>
              <a:ext cx="97536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2A0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$42.5M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01200" y="7223760"/>
            <a:ext cx="7315200" cy="548640"/>
            <a:chOff x="0" y="0"/>
            <a:chExt cx="97536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9753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B3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India personal finance software, 2024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01200" y="7863840"/>
            <a:ext cx="7315200" cy="731520"/>
            <a:chOff x="0" y="0"/>
            <a:chExt cx="975360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753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0B223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projected $63.6M by 2033 (IMARC)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658617"/>
            <a:ext cx="4414523" cy="3317243"/>
            <a:chOff x="0" y="0"/>
            <a:chExt cx="5886031" cy="4422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886069">
                  <a:moveTo>
                    <a:pt x="0" y="2211451"/>
                  </a:moveTo>
                  <a:cubicBezTo>
                    <a:pt x="0" y="990092"/>
                    <a:pt x="1317625" y="0"/>
                    <a:pt x="2942971" y="0"/>
                  </a:cubicBezTo>
                  <a:cubicBezTo>
                    <a:pt x="4568317" y="0"/>
                    <a:pt x="5886069" y="990092"/>
                    <a:pt x="5886069" y="2211451"/>
                  </a:cubicBezTo>
                  <a:cubicBezTo>
                    <a:pt x="5886069" y="3432810"/>
                    <a:pt x="4568444" y="4423029"/>
                    <a:pt x="2942971" y="4423029"/>
                  </a:cubicBezTo>
                  <a:cubicBezTo>
                    <a:pt x="1317498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62A0EF">
                <a:alpha val="56078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14983" y="8582663"/>
            <a:ext cx="4048763" cy="3317243"/>
            <a:chOff x="0" y="0"/>
            <a:chExt cx="5398351" cy="442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38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398389">
                  <a:moveTo>
                    <a:pt x="0" y="2211451"/>
                  </a:moveTo>
                  <a:cubicBezTo>
                    <a:pt x="0" y="990092"/>
                    <a:pt x="1208405" y="0"/>
                    <a:pt x="2699131" y="0"/>
                  </a:cubicBezTo>
                  <a:cubicBezTo>
                    <a:pt x="4189857" y="0"/>
                    <a:pt x="5398389" y="990092"/>
                    <a:pt x="5398389" y="2211451"/>
                  </a:cubicBezTo>
                  <a:cubicBezTo>
                    <a:pt x="5398389" y="3432810"/>
                    <a:pt x="4189857" y="4423029"/>
                    <a:pt x="2699131" y="4423029"/>
                  </a:cubicBezTo>
                  <a:cubicBezTo>
                    <a:pt x="1208405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 Trends &amp; Target Audience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1703" y="2181863"/>
            <a:ext cx="8255003" cy="6974843"/>
            <a:chOff x="0" y="0"/>
            <a:chExt cx="11006671" cy="92997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6582" cy="9299702"/>
            </a:xfrm>
            <a:custGeom>
              <a:avLst/>
              <a:gdLst/>
              <a:ahLst/>
              <a:cxnLst/>
              <a:rect r="r" b="b" t="t" l="l"/>
              <a:pathLst>
                <a:path h="9299702" w="11006582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10761853" y="0"/>
                  </a:lnTo>
                  <a:cubicBezTo>
                    <a:pt x="10896981" y="0"/>
                    <a:pt x="11006582" y="109601"/>
                    <a:pt x="11006582" y="244729"/>
                  </a:cubicBezTo>
                  <a:lnTo>
                    <a:pt x="11006582" y="9054973"/>
                  </a:lnTo>
                  <a:cubicBezTo>
                    <a:pt x="11006582" y="9190101"/>
                    <a:pt x="10896981" y="9299702"/>
                    <a:pt x="10761853" y="9299702"/>
                  </a:cubicBezTo>
                  <a:lnTo>
                    <a:pt x="244729" y="9299702"/>
                  </a:lnTo>
                  <a:cubicBezTo>
                    <a:pt x="109601" y="9299829"/>
                    <a:pt x="0" y="9190228"/>
                    <a:pt x="0" y="9054973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88720" y="2377440"/>
            <a:ext cx="7680960" cy="640080"/>
            <a:chOff x="0" y="0"/>
            <a:chExt cx="1024128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24128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 Trends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88720" y="3034284"/>
            <a:ext cx="7680960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UPI generates rich, granular spending data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Top apps (PhonePe, Google Pay, Paytm) dominate usage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apps lean to investing, credit and loans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Festival and wedding spikes are poorly served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Cash is still common, so manual entry matters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Privacy concerns around SMS reading are rising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97063" y="2181863"/>
            <a:ext cx="7889243" cy="6974843"/>
            <a:chOff x="0" y="0"/>
            <a:chExt cx="10518991" cy="92997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18902" cy="9299702"/>
            </a:xfrm>
            <a:custGeom>
              <a:avLst/>
              <a:gdLst/>
              <a:ahLst/>
              <a:cxnLst/>
              <a:rect r="r" b="b" t="t" l="l"/>
              <a:pathLst>
                <a:path h="9299702" w="10518902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10274173" y="0"/>
                  </a:lnTo>
                  <a:cubicBezTo>
                    <a:pt x="10409301" y="0"/>
                    <a:pt x="10518902" y="109601"/>
                    <a:pt x="10518902" y="244729"/>
                  </a:cubicBezTo>
                  <a:lnTo>
                    <a:pt x="10518902" y="9054973"/>
                  </a:lnTo>
                  <a:cubicBezTo>
                    <a:pt x="10518902" y="9190101"/>
                    <a:pt x="10409301" y="9299702"/>
                    <a:pt x="10274173" y="9299702"/>
                  </a:cubicBezTo>
                  <a:lnTo>
                    <a:pt x="244729" y="9299702"/>
                  </a:lnTo>
                  <a:cubicBezTo>
                    <a:pt x="109601" y="9299829"/>
                    <a:pt x="0" y="9190228"/>
                    <a:pt x="0" y="9054973"/>
                  </a:cubicBezTo>
                  <a:close/>
                </a:path>
              </a:pathLst>
            </a:custGeom>
            <a:solidFill>
              <a:srgbClr val="D5E3F5"/>
            </a:solidFill>
            <a:ln w="25400" cap="sq">
              <a:solidFill>
                <a:srgbClr val="1570E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875520" y="2377440"/>
            <a:ext cx="7315200" cy="640080"/>
            <a:chOff x="0" y="0"/>
            <a:chExt cx="975360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7536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5A9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Audience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833797" y="3106358"/>
            <a:ext cx="7132320" cy="295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Young earners (18-30)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Students and early-career professionals</a:t>
            </a:r>
          </a:p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Urban &amp; semi-urban India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UPI-first, smartphone users</a:t>
            </a:r>
          </a:p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Goal-driven savers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Saving for a trip, gadget or emergency fund</a:t>
            </a:r>
          </a:p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Festival-season households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Planning ahead for high-variance spends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658617"/>
            <a:ext cx="4414523" cy="3317243"/>
            <a:chOff x="0" y="0"/>
            <a:chExt cx="5886031" cy="4422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886069">
                  <a:moveTo>
                    <a:pt x="0" y="2211451"/>
                  </a:moveTo>
                  <a:cubicBezTo>
                    <a:pt x="0" y="990092"/>
                    <a:pt x="1317625" y="0"/>
                    <a:pt x="2942971" y="0"/>
                  </a:cubicBezTo>
                  <a:cubicBezTo>
                    <a:pt x="4568317" y="0"/>
                    <a:pt x="5886069" y="990092"/>
                    <a:pt x="5886069" y="2211451"/>
                  </a:cubicBezTo>
                  <a:cubicBezTo>
                    <a:pt x="5886069" y="3432810"/>
                    <a:pt x="4568444" y="4423029"/>
                    <a:pt x="2942971" y="4423029"/>
                  </a:cubicBezTo>
                  <a:cubicBezTo>
                    <a:pt x="1317498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62A0EF">
                <a:alpha val="56078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14983" y="8582663"/>
            <a:ext cx="4048763" cy="3317243"/>
            <a:chOff x="0" y="0"/>
            <a:chExt cx="5398351" cy="442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38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398389">
                  <a:moveTo>
                    <a:pt x="0" y="2211451"/>
                  </a:moveTo>
                  <a:cubicBezTo>
                    <a:pt x="0" y="990092"/>
                    <a:pt x="1208405" y="0"/>
                    <a:pt x="2699131" y="0"/>
                  </a:cubicBezTo>
                  <a:cubicBezTo>
                    <a:pt x="4189857" y="0"/>
                    <a:pt x="5398389" y="990092"/>
                    <a:pt x="5398389" y="2211451"/>
                  </a:cubicBezTo>
                  <a:cubicBezTo>
                    <a:pt x="5398389" y="3432810"/>
                    <a:pt x="4189857" y="4423029"/>
                    <a:pt x="2699131" y="4423029"/>
                  </a:cubicBezTo>
                  <a:cubicBezTo>
                    <a:pt x="1208405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Features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1703" y="2364743"/>
            <a:ext cx="3902459" cy="3134363"/>
            <a:chOff x="0" y="0"/>
            <a:chExt cx="5203279" cy="41791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03444" cy="4179189"/>
            </a:xfrm>
            <a:custGeom>
              <a:avLst/>
              <a:gdLst/>
              <a:ahLst/>
              <a:cxnLst/>
              <a:rect r="r" b="b" t="t" l="l"/>
              <a:pathLst>
                <a:path h="4179189" w="5203444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957572" y="0"/>
                  </a:lnTo>
                  <a:cubicBezTo>
                    <a:pt x="5093335" y="0"/>
                    <a:pt x="5203444" y="110109"/>
                    <a:pt x="5203444" y="245872"/>
                  </a:cubicBezTo>
                  <a:lnTo>
                    <a:pt x="5203444" y="3933317"/>
                  </a:lnTo>
                  <a:cubicBezTo>
                    <a:pt x="5203444" y="4069080"/>
                    <a:pt x="5093335" y="4179189"/>
                    <a:pt x="4957572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88720" y="2560320"/>
            <a:ext cx="3328416" cy="640080"/>
            <a:chOff x="0" y="0"/>
            <a:chExt cx="4437888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37888" cy="853440"/>
            </a:xfrm>
            <a:custGeom>
              <a:avLst/>
              <a:gdLst/>
              <a:ahLst/>
              <a:cxnLst/>
              <a:rect r="r" b="b" t="t" l="l"/>
              <a:pathLst>
                <a:path h="853440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4437888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Impulse Detector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88720" y="3217164"/>
            <a:ext cx="332841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Flags unplanned, unusual buys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071367" y="2364743"/>
            <a:ext cx="3902459" cy="3134363"/>
            <a:chOff x="0" y="0"/>
            <a:chExt cx="5203279" cy="41791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03444" cy="4179189"/>
            </a:xfrm>
            <a:custGeom>
              <a:avLst/>
              <a:gdLst/>
              <a:ahLst/>
              <a:cxnLst/>
              <a:rect r="r" b="b" t="t" l="l"/>
              <a:pathLst>
                <a:path h="4179189" w="5203444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957572" y="0"/>
                  </a:lnTo>
                  <a:cubicBezTo>
                    <a:pt x="5093335" y="0"/>
                    <a:pt x="5203444" y="110109"/>
                    <a:pt x="5203444" y="245872"/>
                  </a:cubicBezTo>
                  <a:lnTo>
                    <a:pt x="5203444" y="3933317"/>
                  </a:lnTo>
                  <a:cubicBezTo>
                    <a:pt x="5203444" y="4069080"/>
                    <a:pt x="5093335" y="4179189"/>
                    <a:pt x="4957572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358384" y="2596134"/>
            <a:ext cx="3328416" cy="976238"/>
            <a:chOff x="0" y="0"/>
            <a:chExt cx="4437888" cy="13016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37888" cy="1301651"/>
            </a:xfrm>
            <a:custGeom>
              <a:avLst/>
              <a:gdLst/>
              <a:ahLst/>
              <a:cxnLst/>
              <a:rect r="r" b="b" t="t" l="l"/>
              <a:pathLst>
                <a:path h="1301651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301651"/>
                  </a:lnTo>
                  <a:lnTo>
                    <a:pt x="0" y="1301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49" r="0" b="7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4437888" cy="13683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Hidden Expense Finder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358384" y="3534272"/>
            <a:ext cx="332841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Totals small daily leaks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41031" y="2364743"/>
            <a:ext cx="3902459" cy="3134363"/>
            <a:chOff x="0" y="0"/>
            <a:chExt cx="5203279" cy="41791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03444" cy="4179189"/>
            </a:xfrm>
            <a:custGeom>
              <a:avLst/>
              <a:gdLst/>
              <a:ahLst/>
              <a:cxnLst/>
              <a:rect r="r" b="b" t="t" l="l"/>
              <a:pathLst>
                <a:path h="4179189" w="5203444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957572" y="0"/>
                  </a:lnTo>
                  <a:cubicBezTo>
                    <a:pt x="5093335" y="0"/>
                    <a:pt x="5203444" y="110109"/>
                    <a:pt x="5203444" y="245872"/>
                  </a:cubicBezTo>
                  <a:lnTo>
                    <a:pt x="5203444" y="3933317"/>
                  </a:lnTo>
                  <a:cubicBezTo>
                    <a:pt x="5203444" y="4069080"/>
                    <a:pt x="5093335" y="4179189"/>
                    <a:pt x="4957572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528048" y="2560320"/>
            <a:ext cx="3328416" cy="640080"/>
            <a:chOff x="0" y="0"/>
            <a:chExt cx="4437888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37888" cy="853440"/>
            </a:xfrm>
            <a:custGeom>
              <a:avLst/>
              <a:gdLst/>
              <a:ahLst/>
              <a:cxnLst/>
              <a:rect r="r" b="b" t="t" l="l"/>
              <a:pathLst>
                <a:path h="853440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4437888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 Impact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528048" y="3217164"/>
            <a:ext cx="332841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Shows what a spend delays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410695" y="2364743"/>
            <a:ext cx="3902459" cy="3134363"/>
            <a:chOff x="0" y="0"/>
            <a:chExt cx="5203279" cy="41791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03444" cy="4179189"/>
            </a:xfrm>
            <a:custGeom>
              <a:avLst/>
              <a:gdLst/>
              <a:ahLst/>
              <a:cxnLst/>
              <a:rect r="r" b="b" t="t" l="l"/>
              <a:pathLst>
                <a:path h="4179189" w="5203444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957572" y="0"/>
                  </a:lnTo>
                  <a:cubicBezTo>
                    <a:pt x="5093335" y="0"/>
                    <a:pt x="5203444" y="110109"/>
                    <a:pt x="5203444" y="245872"/>
                  </a:cubicBezTo>
                  <a:lnTo>
                    <a:pt x="5203444" y="3933317"/>
                  </a:lnTo>
                  <a:cubicBezTo>
                    <a:pt x="5203444" y="4069080"/>
                    <a:pt x="5093335" y="4179189"/>
                    <a:pt x="4957572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3697712" y="2560320"/>
            <a:ext cx="3328416" cy="640080"/>
            <a:chOff x="0" y="0"/>
            <a:chExt cx="4437888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37888" cy="853440"/>
            </a:xfrm>
            <a:custGeom>
              <a:avLst/>
              <a:gdLst/>
              <a:ahLst/>
              <a:cxnLst/>
              <a:rect r="r" b="b" t="t" l="l"/>
              <a:pathLst>
                <a:path h="853440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4437888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Streaks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697712" y="3217164"/>
            <a:ext cx="332841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Rewards daily tracking habit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01703" y="5839463"/>
            <a:ext cx="3902459" cy="3134363"/>
            <a:chOff x="0" y="0"/>
            <a:chExt cx="5203279" cy="417915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203444" cy="4179189"/>
            </a:xfrm>
            <a:custGeom>
              <a:avLst/>
              <a:gdLst/>
              <a:ahLst/>
              <a:cxnLst/>
              <a:rect r="r" b="b" t="t" l="l"/>
              <a:pathLst>
                <a:path h="4179189" w="5203444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957572" y="0"/>
                  </a:lnTo>
                  <a:cubicBezTo>
                    <a:pt x="5093335" y="0"/>
                    <a:pt x="5203444" y="110109"/>
                    <a:pt x="5203444" y="245872"/>
                  </a:cubicBezTo>
                  <a:lnTo>
                    <a:pt x="5203444" y="3933317"/>
                  </a:lnTo>
                  <a:cubicBezTo>
                    <a:pt x="5203444" y="4069080"/>
                    <a:pt x="5093335" y="4179189"/>
                    <a:pt x="4957572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88720" y="6035040"/>
            <a:ext cx="3328416" cy="640080"/>
            <a:chOff x="0" y="0"/>
            <a:chExt cx="4437888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37888" cy="853440"/>
            </a:xfrm>
            <a:custGeom>
              <a:avLst/>
              <a:gdLst/>
              <a:ahLst/>
              <a:cxnLst/>
              <a:rect r="r" b="b" t="t" l="l"/>
              <a:pathLst>
                <a:path h="853440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4437888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 Categories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88720" y="6691884"/>
            <a:ext cx="332841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Your own spend buckets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5071367" y="5839463"/>
            <a:ext cx="3902459" cy="3134363"/>
            <a:chOff x="0" y="0"/>
            <a:chExt cx="5203279" cy="41791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03444" cy="4179189"/>
            </a:xfrm>
            <a:custGeom>
              <a:avLst/>
              <a:gdLst/>
              <a:ahLst/>
              <a:cxnLst/>
              <a:rect r="r" b="b" t="t" l="l"/>
              <a:pathLst>
                <a:path h="4179189" w="5203444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957572" y="0"/>
                  </a:lnTo>
                  <a:cubicBezTo>
                    <a:pt x="5093335" y="0"/>
                    <a:pt x="5203444" y="110109"/>
                    <a:pt x="5203444" y="245872"/>
                  </a:cubicBezTo>
                  <a:lnTo>
                    <a:pt x="5203444" y="3933317"/>
                  </a:lnTo>
                  <a:cubicBezTo>
                    <a:pt x="5203444" y="4069080"/>
                    <a:pt x="5093335" y="4179189"/>
                    <a:pt x="4957572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5358384" y="6035040"/>
            <a:ext cx="3328416" cy="640080"/>
            <a:chOff x="0" y="0"/>
            <a:chExt cx="4437888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37888" cy="853440"/>
            </a:xfrm>
            <a:custGeom>
              <a:avLst/>
              <a:gdLst/>
              <a:ahLst/>
              <a:cxnLst/>
              <a:rect r="r" b="b" t="t" l="l"/>
              <a:pathLst>
                <a:path h="853440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4437888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Festival Planner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5358384" y="6691884"/>
            <a:ext cx="332841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Budget for Diwali, weddings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241031" y="5839463"/>
            <a:ext cx="3902459" cy="3134363"/>
            <a:chOff x="0" y="0"/>
            <a:chExt cx="5203279" cy="417915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03444" cy="4179189"/>
            </a:xfrm>
            <a:custGeom>
              <a:avLst/>
              <a:gdLst/>
              <a:ahLst/>
              <a:cxnLst/>
              <a:rect r="r" b="b" t="t" l="l"/>
              <a:pathLst>
                <a:path h="4179189" w="5203444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957572" y="0"/>
                  </a:lnTo>
                  <a:cubicBezTo>
                    <a:pt x="5093335" y="0"/>
                    <a:pt x="5203444" y="110109"/>
                    <a:pt x="5203444" y="245872"/>
                  </a:cubicBezTo>
                  <a:lnTo>
                    <a:pt x="5203444" y="3933317"/>
                  </a:lnTo>
                  <a:cubicBezTo>
                    <a:pt x="5203444" y="4069080"/>
                    <a:pt x="5093335" y="4179189"/>
                    <a:pt x="4957572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528048" y="6035040"/>
            <a:ext cx="3328416" cy="640080"/>
            <a:chOff x="0" y="0"/>
            <a:chExt cx="4437888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437888" cy="853440"/>
            </a:xfrm>
            <a:custGeom>
              <a:avLst/>
              <a:gdLst/>
              <a:ahLst/>
              <a:cxnLst/>
              <a:rect r="r" b="b" t="t" l="l"/>
              <a:pathLst>
                <a:path h="853440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4437888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Emergency Fund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528048" y="6691884"/>
            <a:ext cx="332841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Tracks savings safety net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3410695" y="5839463"/>
            <a:ext cx="3902459" cy="3134363"/>
            <a:chOff x="0" y="0"/>
            <a:chExt cx="5203279" cy="417915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03444" cy="4179189"/>
            </a:xfrm>
            <a:custGeom>
              <a:avLst/>
              <a:gdLst/>
              <a:ahLst/>
              <a:cxnLst/>
              <a:rect r="r" b="b" t="t" l="l"/>
              <a:pathLst>
                <a:path h="4179189" w="5203444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957572" y="0"/>
                  </a:lnTo>
                  <a:cubicBezTo>
                    <a:pt x="5093335" y="0"/>
                    <a:pt x="5203444" y="110109"/>
                    <a:pt x="5203444" y="245872"/>
                  </a:cubicBezTo>
                  <a:lnTo>
                    <a:pt x="5203444" y="3933317"/>
                  </a:lnTo>
                  <a:cubicBezTo>
                    <a:pt x="5203444" y="4069080"/>
                    <a:pt x="5093335" y="4179189"/>
                    <a:pt x="4957572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697712" y="6035040"/>
            <a:ext cx="3328416" cy="640080"/>
            <a:chOff x="0" y="0"/>
            <a:chExt cx="4437888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437888" cy="853440"/>
            </a:xfrm>
            <a:custGeom>
              <a:avLst/>
              <a:gdLst/>
              <a:ahLst/>
              <a:cxnLst/>
              <a:rect r="r" b="b" t="t" l="l"/>
              <a:pathLst>
                <a:path h="853440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4437888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Expense Story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3697712" y="6691884"/>
            <a:ext cx="332841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Monthly spending narrative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658617"/>
            <a:ext cx="4414523" cy="3317243"/>
            <a:chOff x="0" y="0"/>
            <a:chExt cx="5886031" cy="4422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886069">
                  <a:moveTo>
                    <a:pt x="0" y="2211451"/>
                  </a:moveTo>
                  <a:cubicBezTo>
                    <a:pt x="0" y="990092"/>
                    <a:pt x="1317625" y="0"/>
                    <a:pt x="2942971" y="0"/>
                  </a:cubicBezTo>
                  <a:cubicBezTo>
                    <a:pt x="4568317" y="0"/>
                    <a:pt x="5886069" y="990092"/>
                    <a:pt x="5886069" y="2211451"/>
                  </a:cubicBezTo>
                  <a:cubicBezTo>
                    <a:pt x="5886069" y="3432810"/>
                    <a:pt x="4568444" y="4423029"/>
                    <a:pt x="2942971" y="4423029"/>
                  </a:cubicBezTo>
                  <a:cubicBezTo>
                    <a:pt x="1317498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62A0EF">
                <a:alpha val="56078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14983" y="8582663"/>
            <a:ext cx="4048763" cy="3317243"/>
            <a:chOff x="0" y="0"/>
            <a:chExt cx="5398351" cy="442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38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398389">
                  <a:moveTo>
                    <a:pt x="0" y="2211451"/>
                  </a:moveTo>
                  <a:cubicBezTo>
                    <a:pt x="0" y="990092"/>
                    <a:pt x="1208405" y="0"/>
                    <a:pt x="2699131" y="0"/>
                  </a:cubicBezTo>
                  <a:cubicBezTo>
                    <a:pt x="4189857" y="0"/>
                    <a:pt x="5398389" y="990092"/>
                    <a:pt x="5398389" y="2211451"/>
                  </a:cubicBezTo>
                  <a:cubicBezTo>
                    <a:pt x="5398389" y="3432810"/>
                    <a:pt x="4189857" y="4423029"/>
                    <a:pt x="2699131" y="4423029"/>
                  </a:cubicBezTo>
                  <a:cubicBezTo>
                    <a:pt x="1208405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Design &amp; Technology Stack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499616"/>
            <a:ext cx="16459200" cy="640080"/>
            <a:chOff x="0" y="0"/>
            <a:chExt cx="2194560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B3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High-level flow (diagrams in the project report)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1703" y="2730503"/>
            <a:ext cx="3500123" cy="1671323"/>
            <a:chOff x="0" y="0"/>
            <a:chExt cx="4666831" cy="22284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668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4666869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4419219" y="0"/>
                  </a:lnTo>
                  <a:cubicBezTo>
                    <a:pt x="4555998" y="0"/>
                    <a:pt x="4666869" y="110871"/>
                    <a:pt x="4666869" y="247650"/>
                  </a:cubicBezTo>
                  <a:lnTo>
                    <a:pt x="4666869" y="1980819"/>
                  </a:lnTo>
                  <a:cubicBezTo>
                    <a:pt x="4666869" y="2117598"/>
                    <a:pt x="4555998" y="2228469"/>
                    <a:pt x="4419219" y="2228469"/>
                  </a:cubicBezTo>
                  <a:lnTo>
                    <a:pt x="247650" y="2228469"/>
                  </a:lnTo>
                  <a:cubicBezTo>
                    <a:pt x="110871" y="2228469"/>
                    <a:pt x="0" y="2117598"/>
                    <a:pt x="0" y="1980819"/>
                  </a:cubicBezTo>
                  <a:close/>
                </a:path>
              </a:pathLst>
            </a:custGeom>
            <a:solidFill>
              <a:srgbClr val="0B3A7A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743200"/>
            <a:ext cx="3474720" cy="1645920"/>
            <a:chOff x="0" y="0"/>
            <a:chExt cx="463296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2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75" t="0" r="-1077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463296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89120" y="2926080"/>
            <a:ext cx="914400" cy="1280160"/>
            <a:chOff x="0" y="0"/>
            <a:chExt cx="1219200" cy="1706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9625" t="0" r="-129625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219200" cy="1792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62A0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290823" y="2730503"/>
            <a:ext cx="3500123" cy="1671323"/>
            <a:chOff x="0" y="0"/>
            <a:chExt cx="4666831" cy="22284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668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4666869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4419219" y="0"/>
                  </a:lnTo>
                  <a:cubicBezTo>
                    <a:pt x="4555998" y="0"/>
                    <a:pt x="4666869" y="110871"/>
                    <a:pt x="4666869" y="247650"/>
                  </a:cubicBezTo>
                  <a:lnTo>
                    <a:pt x="4666869" y="1980819"/>
                  </a:lnTo>
                  <a:cubicBezTo>
                    <a:pt x="4666869" y="2117598"/>
                    <a:pt x="4555998" y="2228469"/>
                    <a:pt x="4419219" y="2228469"/>
                  </a:cubicBezTo>
                  <a:lnTo>
                    <a:pt x="247650" y="2228469"/>
                  </a:lnTo>
                  <a:cubicBezTo>
                    <a:pt x="110871" y="2228469"/>
                    <a:pt x="0" y="2117598"/>
                    <a:pt x="0" y="1980819"/>
                  </a:cubicBezTo>
                  <a:close/>
                </a:path>
              </a:pathLst>
            </a:custGeom>
            <a:solidFill>
              <a:srgbClr val="1570E6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303520" y="2743200"/>
            <a:ext cx="3474720" cy="1645920"/>
            <a:chOff x="0" y="0"/>
            <a:chExt cx="4632960" cy="2194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32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75" t="0" r="-1077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463296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UI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778240" y="2926080"/>
            <a:ext cx="914400" cy="1280160"/>
            <a:chOff x="0" y="0"/>
            <a:chExt cx="1219200" cy="1706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19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9625" t="0" r="-12962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1219200" cy="1792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62A0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79943" y="2730503"/>
            <a:ext cx="3500123" cy="1671323"/>
            <a:chOff x="0" y="0"/>
            <a:chExt cx="4666831" cy="22284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668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4666869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4419219" y="0"/>
                  </a:lnTo>
                  <a:cubicBezTo>
                    <a:pt x="4555998" y="0"/>
                    <a:pt x="4666869" y="110871"/>
                    <a:pt x="4666869" y="247650"/>
                  </a:cubicBezTo>
                  <a:lnTo>
                    <a:pt x="4666869" y="1980819"/>
                  </a:lnTo>
                  <a:cubicBezTo>
                    <a:pt x="4666869" y="2117598"/>
                    <a:pt x="4555998" y="2228469"/>
                    <a:pt x="4419219" y="2228469"/>
                  </a:cubicBezTo>
                  <a:lnTo>
                    <a:pt x="247650" y="2228469"/>
                  </a:lnTo>
                  <a:cubicBezTo>
                    <a:pt x="110871" y="2228469"/>
                    <a:pt x="0" y="2117598"/>
                    <a:pt x="0" y="1980819"/>
                  </a:cubicBezTo>
                  <a:close/>
                </a:path>
              </a:pathLst>
            </a:custGeom>
            <a:solidFill>
              <a:srgbClr val="0B3A7A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692640" y="2743200"/>
            <a:ext cx="3474720" cy="1645920"/>
            <a:chOff x="0" y="0"/>
            <a:chExt cx="4632960" cy="2194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632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75" t="0" r="-10775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463296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Logic Engine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167360" y="2926080"/>
            <a:ext cx="914400" cy="1280160"/>
            <a:chOff x="0" y="0"/>
            <a:chExt cx="1219200" cy="1706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9625" t="0" r="-12962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1219200" cy="1792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62A0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069063" y="2730503"/>
            <a:ext cx="3500123" cy="1671323"/>
            <a:chOff x="0" y="0"/>
            <a:chExt cx="4666831" cy="22284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668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4666869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4419219" y="0"/>
                  </a:lnTo>
                  <a:cubicBezTo>
                    <a:pt x="4555998" y="0"/>
                    <a:pt x="4666869" y="110871"/>
                    <a:pt x="4666869" y="247650"/>
                  </a:cubicBezTo>
                  <a:lnTo>
                    <a:pt x="4666869" y="1980819"/>
                  </a:lnTo>
                  <a:cubicBezTo>
                    <a:pt x="4666869" y="2117598"/>
                    <a:pt x="4555998" y="2228469"/>
                    <a:pt x="4419219" y="2228469"/>
                  </a:cubicBezTo>
                  <a:lnTo>
                    <a:pt x="247650" y="2228469"/>
                  </a:lnTo>
                  <a:cubicBezTo>
                    <a:pt x="110871" y="2228469"/>
                    <a:pt x="0" y="2117598"/>
                    <a:pt x="0" y="1980819"/>
                  </a:cubicBezTo>
                  <a:close/>
                </a:path>
              </a:pathLst>
            </a:custGeom>
            <a:solidFill>
              <a:srgbClr val="1570E6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4081760" y="2743200"/>
            <a:ext cx="3474720" cy="1645920"/>
            <a:chOff x="0" y="0"/>
            <a:chExt cx="4632960" cy="21945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32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75" t="0" r="-10775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463296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01703" y="5016503"/>
            <a:ext cx="7980683" cy="4048763"/>
            <a:chOff x="0" y="0"/>
            <a:chExt cx="10640911" cy="53983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40949" cy="5398389"/>
            </a:xfrm>
            <a:custGeom>
              <a:avLst/>
              <a:gdLst/>
              <a:ahLst/>
              <a:cxnLst/>
              <a:rect r="r" b="b" t="t" l="l"/>
              <a:pathLst>
                <a:path h="5398389" w="10640949">
                  <a:moveTo>
                    <a:pt x="0" y="245364"/>
                  </a:moveTo>
                  <a:cubicBezTo>
                    <a:pt x="0" y="109855"/>
                    <a:pt x="109855" y="0"/>
                    <a:pt x="245364" y="0"/>
                  </a:cubicBezTo>
                  <a:lnTo>
                    <a:pt x="10395585" y="0"/>
                  </a:lnTo>
                  <a:cubicBezTo>
                    <a:pt x="10531094" y="0"/>
                    <a:pt x="10640949" y="109855"/>
                    <a:pt x="10640949" y="245364"/>
                  </a:cubicBezTo>
                  <a:lnTo>
                    <a:pt x="10640949" y="5153025"/>
                  </a:lnTo>
                  <a:cubicBezTo>
                    <a:pt x="10640949" y="5288534"/>
                    <a:pt x="10531094" y="5398389"/>
                    <a:pt x="10395585" y="5398389"/>
                  </a:cubicBezTo>
                  <a:lnTo>
                    <a:pt x="245364" y="5398389"/>
                  </a:lnTo>
                  <a:cubicBezTo>
                    <a:pt x="109855" y="5398389"/>
                    <a:pt x="0" y="5288534"/>
                    <a:pt x="0" y="5153025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88720" y="5212080"/>
            <a:ext cx="7406640" cy="640080"/>
            <a:chOff x="0" y="0"/>
            <a:chExt cx="987552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875520" cy="853440"/>
            </a:xfrm>
            <a:custGeom>
              <a:avLst/>
              <a:gdLst/>
              <a:ahLst/>
              <a:cxnLst/>
              <a:rect r="r" b="b" t="t" l="l"/>
              <a:pathLst>
                <a:path h="8534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469" r="0" b="-17546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98755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Logic Engine modules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188720" y="5859399"/>
            <a:ext cx="7406640" cy="306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991" indent="-27749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Impulse purchase detection</a:t>
            </a:r>
          </a:p>
          <a:p>
            <a:pPr algn="l" marL="554991" indent="-27749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Small-expense aggregation</a:t>
            </a:r>
          </a:p>
          <a:p>
            <a:pPr algn="l" marL="554991" indent="-27749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Goal impact calculation</a:t>
            </a:r>
          </a:p>
          <a:p>
            <a:pPr algn="l" marL="554991" indent="-27749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Streak and festival planning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405623" y="5016503"/>
            <a:ext cx="7980683" cy="4048763"/>
            <a:chOff x="0" y="0"/>
            <a:chExt cx="10640911" cy="53983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40949" cy="5398389"/>
            </a:xfrm>
            <a:custGeom>
              <a:avLst/>
              <a:gdLst/>
              <a:ahLst/>
              <a:cxnLst/>
              <a:rect r="r" b="b" t="t" l="l"/>
              <a:pathLst>
                <a:path h="5398389" w="10640949">
                  <a:moveTo>
                    <a:pt x="0" y="245364"/>
                  </a:moveTo>
                  <a:cubicBezTo>
                    <a:pt x="0" y="109855"/>
                    <a:pt x="109855" y="0"/>
                    <a:pt x="245364" y="0"/>
                  </a:cubicBezTo>
                  <a:lnTo>
                    <a:pt x="10395585" y="0"/>
                  </a:lnTo>
                  <a:cubicBezTo>
                    <a:pt x="10531094" y="0"/>
                    <a:pt x="10640949" y="109855"/>
                    <a:pt x="10640949" y="245364"/>
                  </a:cubicBezTo>
                  <a:lnTo>
                    <a:pt x="10640949" y="5153025"/>
                  </a:lnTo>
                  <a:cubicBezTo>
                    <a:pt x="10640949" y="5288534"/>
                    <a:pt x="10531094" y="5398389"/>
                    <a:pt x="10395585" y="5398389"/>
                  </a:cubicBezTo>
                  <a:lnTo>
                    <a:pt x="245364" y="5398389"/>
                  </a:lnTo>
                  <a:cubicBezTo>
                    <a:pt x="109855" y="5398389"/>
                    <a:pt x="0" y="5288534"/>
                    <a:pt x="0" y="5153025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692640" y="5212080"/>
            <a:ext cx="7406640" cy="640080"/>
            <a:chOff x="0" y="0"/>
            <a:chExt cx="9875520" cy="853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875520" cy="853440"/>
            </a:xfrm>
            <a:custGeom>
              <a:avLst/>
              <a:gdLst/>
              <a:ahLst/>
              <a:cxnLst/>
              <a:rect r="r" b="b" t="t" l="l"/>
              <a:pathLst>
                <a:path h="8534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469" r="0" b="-17546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98755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679943" y="5859399"/>
            <a:ext cx="740664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991" indent="-27749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Frontend: Html,CSS (Thymeleaf for pages)</a:t>
            </a:r>
          </a:p>
          <a:p>
            <a:pPr algn="l" marL="554991" indent="-27749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Backend: JAVA 17 with Springboot</a:t>
            </a:r>
          </a:p>
          <a:p>
            <a:pPr algn="l" marL="554991" indent="-27749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Database: H2</a:t>
            </a:r>
          </a:p>
          <a:p>
            <a:pPr algn="l" marL="554991" indent="-27749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Tools: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658617"/>
            <a:ext cx="4414523" cy="3317243"/>
            <a:chOff x="0" y="0"/>
            <a:chExt cx="5886031" cy="4422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886069">
                  <a:moveTo>
                    <a:pt x="0" y="2211451"/>
                  </a:moveTo>
                  <a:cubicBezTo>
                    <a:pt x="0" y="990092"/>
                    <a:pt x="1317625" y="0"/>
                    <a:pt x="2942971" y="0"/>
                  </a:cubicBezTo>
                  <a:cubicBezTo>
                    <a:pt x="4568317" y="0"/>
                    <a:pt x="5886069" y="990092"/>
                    <a:pt x="5886069" y="2211451"/>
                  </a:cubicBezTo>
                  <a:cubicBezTo>
                    <a:pt x="5886069" y="3432810"/>
                    <a:pt x="4568444" y="4423029"/>
                    <a:pt x="2942971" y="4423029"/>
                  </a:cubicBezTo>
                  <a:cubicBezTo>
                    <a:pt x="1317498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62A0EF">
                <a:alpha val="56078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14983" y="8582663"/>
            <a:ext cx="4048763" cy="3317243"/>
            <a:chOff x="0" y="0"/>
            <a:chExt cx="5398351" cy="442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38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398389">
                  <a:moveTo>
                    <a:pt x="0" y="2211451"/>
                  </a:moveTo>
                  <a:cubicBezTo>
                    <a:pt x="0" y="990092"/>
                    <a:pt x="1208405" y="0"/>
                    <a:pt x="2699131" y="0"/>
                  </a:cubicBezTo>
                  <a:cubicBezTo>
                    <a:pt x="4189857" y="0"/>
                    <a:pt x="5398389" y="990092"/>
                    <a:pt x="5398389" y="2211451"/>
                  </a:cubicBezTo>
                  <a:cubicBezTo>
                    <a:pt x="5398389" y="3432810"/>
                    <a:pt x="4189857" y="4423029"/>
                    <a:pt x="2699131" y="4423029"/>
                  </a:cubicBezTo>
                  <a:cubicBezTo>
                    <a:pt x="1208405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Working Product (5-min demo)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3143" y="2364743"/>
            <a:ext cx="939803" cy="939803"/>
            <a:chOff x="0" y="0"/>
            <a:chExt cx="1253071" cy="12530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1570E6"/>
            </a:solidFill>
            <a:ln w="25400" cap="sq">
              <a:solidFill>
                <a:srgbClr val="1570E6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05840" y="2377440"/>
            <a:ext cx="914400" cy="914400"/>
            <a:chOff x="0" y="0"/>
            <a:chExt cx="1219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3383280"/>
            <a:ext cx="3200400" cy="1005840"/>
            <a:chOff x="0" y="0"/>
            <a:chExt cx="426720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67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7698" r="0" b="-21769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2672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B3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 expense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76423" y="2364743"/>
            <a:ext cx="939803" cy="939803"/>
            <a:chOff x="0" y="0"/>
            <a:chExt cx="1253071" cy="12530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1570E6"/>
            </a:solidFill>
            <a:ln w="25400" cap="sq">
              <a:solidFill>
                <a:srgbClr val="1570E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389120" y="2377440"/>
            <a:ext cx="914400" cy="914400"/>
            <a:chOff x="0" y="0"/>
            <a:chExt cx="121920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114800" y="3383280"/>
            <a:ext cx="3200400" cy="1005840"/>
            <a:chOff x="0" y="0"/>
            <a:chExt cx="4267200" cy="13411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67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2672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B3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759703" y="2364743"/>
            <a:ext cx="939803" cy="939803"/>
            <a:chOff x="0" y="0"/>
            <a:chExt cx="1253071" cy="12530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1570E6"/>
            </a:solidFill>
            <a:ln w="25400" cap="sq">
              <a:solidFill>
                <a:srgbClr val="1570E6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772400" y="2377440"/>
            <a:ext cx="914400" cy="914400"/>
            <a:chOff x="0" y="0"/>
            <a:chExt cx="121920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498080" y="3383280"/>
            <a:ext cx="3200400" cy="1005840"/>
            <a:chOff x="0" y="0"/>
            <a:chExt cx="4267200" cy="13411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67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42672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B3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Impulse &amp; small-spend alerts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142983" y="2364743"/>
            <a:ext cx="939803" cy="939803"/>
            <a:chOff x="0" y="0"/>
            <a:chExt cx="1253071" cy="12530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1570E6"/>
            </a:solidFill>
            <a:ln w="25400" cap="sq">
              <a:solidFill>
                <a:srgbClr val="1570E6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155680" y="2377440"/>
            <a:ext cx="914400" cy="914400"/>
            <a:chOff x="0" y="0"/>
            <a:chExt cx="121920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881360" y="3383280"/>
            <a:ext cx="3200400" cy="1005840"/>
            <a:chOff x="0" y="0"/>
            <a:chExt cx="426720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67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2672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B3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 impact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526263" y="2364743"/>
            <a:ext cx="939803" cy="939803"/>
            <a:chOff x="0" y="0"/>
            <a:chExt cx="1253071" cy="12530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1570E6"/>
            </a:solidFill>
            <a:ln w="25400" cap="sq">
              <a:solidFill>
                <a:srgbClr val="1570E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4538960" y="2377440"/>
            <a:ext cx="914400" cy="914400"/>
            <a:chOff x="0" y="0"/>
            <a:chExt cx="121920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264640" y="3383280"/>
            <a:ext cx="3200400" cy="1005840"/>
            <a:chOff x="0" y="0"/>
            <a:chExt cx="4267200" cy="13411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267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42672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B3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Festival planner &amp; story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692717" y="4484370"/>
            <a:ext cx="3153603" cy="5263026"/>
          </a:xfrm>
          <a:custGeom>
            <a:avLst/>
            <a:gdLst/>
            <a:ahLst/>
            <a:cxnLst/>
            <a:rect r="r" b="b" t="t" l="l"/>
            <a:pathLst>
              <a:path h="5263026" w="3153603">
                <a:moveTo>
                  <a:pt x="0" y="0"/>
                </a:moveTo>
                <a:lnTo>
                  <a:pt x="3153603" y="0"/>
                </a:lnTo>
                <a:lnTo>
                  <a:pt x="3153603" y="5263026"/>
                </a:lnTo>
                <a:lnTo>
                  <a:pt x="0" y="5263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25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6088174" y="4484370"/>
            <a:ext cx="3191940" cy="5263026"/>
          </a:xfrm>
          <a:custGeom>
            <a:avLst/>
            <a:gdLst/>
            <a:ahLst/>
            <a:cxnLst/>
            <a:rect r="r" b="b" t="t" l="l"/>
            <a:pathLst>
              <a:path h="5263026" w="3191940">
                <a:moveTo>
                  <a:pt x="0" y="0"/>
                </a:moveTo>
                <a:lnTo>
                  <a:pt x="3191940" y="0"/>
                </a:lnTo>
                <a:lnTo>
                  <a:pt x="3191940" y="5263026"/>
                </a:lnTo>
                <a:lnTo>
                  <a:pt x="0" y="5263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942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518364" y="4484370"/>
            <a:ext cx="3167462" cy="5263026"/>
          </a:xfrm>
          <a:custGeom>
            <a:avLst/>
            <a:gdLst/>
            <a:ahLst/>
            <a:cxnLst/>
            <a:rect r="r" b="b" t="t" l="l"/>
            <a:pathLst>
              <a:path h="5263026" w="3167462">
                <a:moveTo>
                  <a:pt x="0" y="0"/>
                </a:moveTo>
                <a:lnTo>
                  <a:pt x="3167462" y="0"/>
                </a:lnTo>
                <a:lnTo>
                  <a:pt x="3167462" y="5263026"/>
                </a:lnTo>
                <a:lnTo>
                  <a:pt x="0" y="52630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658617"/>
            <a:ext cx="4414523" cy="3317243"/>
            <a:chOff x="0" y="0"/>
            <a:chExt cx="5886031" cy="4422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886069">
                  <a:moveTo>
                    <a:pt x="0" y="2211451"/>
                  </a:moveTo>
                  <a:cubicBezTo>
                    <a:pt x="0" y="990092"/>
                    <a:pt x="1317625" y="0"/>
                    <a:pt x="2942971" y="0"/>
                  </a:cubicBezTo>
                  <a:cubicBezTo>
                    <a:pt x="4568317" y="0"/>
                    <a:pt x="5886069" y="990092"/>
                    <a:pt x="5886069" y="2211451"/>
                  </a:cubicBezTo>
                  <a:cubicBezTo>
                    <a:pt x="5886069" y="3432810"/>
                    <a:pt x="4568444" y="4423029"/>
                    <a:pt x="2942971" y="4423029"/>
                  </a:cubicBezTo>
                  <a:cubicBezTo>
                    <a:pt x="1317498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62A0EF">
                <a:alpha val="56078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14983" y="8582663"/>
            <a:ext cx="4048763" cy="3317243"/>
            <a:chOff x="0" y="0"/>
            <a:chExt cx="5398351" cy="442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38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398389">
                  <a:moveTo>
                    <a:pt x="0" y="2211451"/>
                  </a:moveTo>
                  <a:cubicBezTo>
                    <a:pt x="0" y="990092"/>
                    <a:pt x="1208405" y="0"/>
                    <a:pt x="2699131" y="0"/>
                  </a:cubicBezTo>
                  <a:cubicBezTo>
                    <a:pt x="4189857" y="0"/>
                    <a:pt x="5398389" y="990092"/>
                    <a:pt x="5398389" y="2211451"/>
                  </a:cubicBezTo>
                  <a:cubicBezTo>
                    <a:pt x="5398389" y="3432810"/>
                    <a:pt x="4189857" y="4423029"/>
                    <a:pt x="2699131" y="4423029"/>
                  </a:cubicBezTo>
                  <a:cubicBezTo>
                    <a:pt x="1208405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 &amp; Future Scope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1703" y="2181863"/>
            <a:ext cx="7980683" cy="6791963"/>
            <a:chOff x="0" y="0"/>
            <a:chExt cx="10640911" cy="90559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40823" cy="9055862"/>
            </a:xfrm>
            <a:custGeom>
              <a:avLst/>
              <a:gdLst/>
              <a:ahLst/>
              <a:cxnLst/>
              <a:rect r="r" b="b" t="t" l="l"/>
              <a:pathLst>
                <a:path h="9055862" w="10640823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10396093" y="0"/>
                  </a:lnTo>
                  <a:cubicBezTo>
                    <a:pt x="10531222" y="0"/>
                    <a:pt x="10640823" y="109601"/>
                    <a:pt x="10640823" y="244729"/>
                  </a:cubicBezTo>
                  <a:lnTo>
                    <a:pt x="10640823" y="8811133"/>
                  </a:lnTo>
                  <a:cubicBezTo>
                    <a:pt x="10640823" y="8946261"/>
                    <a:pt x="10531222" y="9055862"/>
                    <a:pt x="10396093" y="9055862"/>
                  </a:cubicBezTo>
                  <a:lnTo>
                    <a:pt x="244729" y="9055862"/>
                  </a:lnTo>
                  <a:cubicBezTo>
                    <a:pt x="109601" y="9055989"/>
                    <a:pt x="0" y="8946388"/>
                    <a:pt x="0" y="8811133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88720" y="2377440"/>
            <a:ext cx="7406640" cy="640080"/>
            <a:chOff x="0" y="0"/>
            <a:chExt cx="987552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75520" cy="853440"/>
            </a:xfrm>
            <a:custGeom>
              <a:avLst/>
              <a:gdLst/>
              <a:ahLst/>
              <a:cxnLst/>
              <a:rect r="r" b="b" t="t" l="l"/>
              <a:pathLst>
                <a:path h="8534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469" r="0" b="-17546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8755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limitations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88720" y="3034284"/>
            <a:ext cx="7406640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entry only, no automatic bank sync.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Demo payments only.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PINs are hashed with plain SHA-256. A real product would use bcrypt with salting.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The service worker and full PWA install need HTTPS. Over plain http on a phone it's a shortcut.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Impulse streaks are limited to the 30-day window.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No edit or delete of expenses yet.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05623" y="2181863"/>
            <a:ext cx="7980683" cy="6791963"/>
            <a:chOff x="0" y="0"/>
            <a:chExt cx="10640911" cy="90559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40823" cy="9055862"/>
            </a:xfrm>
            <a:custGeom>
              <a:avLst/>
              <a:gdLst/>
              <a:ahLst/>
              <a:cxnLst/>
              <a:rect r="r" b="b" t="t" l="l"/>
              <a:pathLst>
                <a:path h="9055862" w="10640823">
                  <a:moveTo>
                    <a:pt x="0" y="244729"/>
                  </a:moveTo>
                  <a:cubicBezTo>
                    <a:pt x="0" y="109601"/>
                    <a:pt x="109601" y="0"/>
                    <a:pt x="244729" y="0"/>
                  </a:cubicBezTo>
                  <a:lnTo>
                    <a:pt x="10396093" y="0"/>
                  </a:lnTo>
                  <a:cubicBezTo>
                    <a:pt x="10531222" y="0"/>
                    <a:pt x="10640823" y="109601"/>
                    <a:pt x="10640823" y="244729"/>
                  </a:cubicBezTo>
                  <a:lnTo>
                    <a:pt x="10640823" y="8811133"/>
                  </a:lnTo>
                  <a:cubicBezTo>
                    <a:pt x="10640823" y="8946261"/>
                    <a:pt x="10531222" y="9055862"/>
                    <a:pt x="10396093" y="9055862"/>
                  </a:cubicBezTo>
                  <a:lnTo>
                    <a:pt x="244729" y="9055862"/>
                  </a:lnTo>
                  <a:cubicBezTo>
                    <a:pt x="109601" y="9055989"/>
                    <a:pt x="0" y="8946388"/>
                    <a:pt x="0" y="8811133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62A0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692640" y="2377440"/>
            <a:ext cx="7406640" cy="640080"/>
            <a:chOff x="0" y="0"/>
            <a:chExt cx="987552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75520" cy="853440"/>
            </a:xfrm>
            <a:custGeom>
              <a:avLst/>
              <a:gdLst/>
              <a:ahLst/>
              <a:cxnLst/>
              <a:rect r="r" b="b" t="t" l="l"/>
              <a:pathLst>
                <a:path h="8534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469" r="0" b="-17546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8755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692640" y="3034284"/>
            <a:ext cx="7406640" cy="579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Auto-import via SMS / Account Aggregator (with consent)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ML-based impulse prediction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Regional language support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Family and shared budgets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B2239"/>
                </a:solidFill>
                <a:latin typeface="Calibri (MS)"/>
                <a:ea typeface="Calibri (MS)"/>
                <a:cs typeface="Calibri (MS)"/>
                <a:sym typeface="Calibri (MS)"/>
              </a:rPr>
              <a:t>Bill reminders and UPI deep links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658617"/>
            <a:ext cx="4414523" cy="3317243"/>
            <a:chOff x="0" y="0"/>
            <a:chExt cx="5886031" cy="4422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886069">
                  <a:moveTo>
                    <a:pt x="0" y="2211451"/>
                  </a:moveTo>
                  <a:cubicBezTo>
                    <a:pt x="0" y="990092"/>
                    <a:pt x="1317625" y="0"/>
                    <a:pt x="2942971" y="0"/>
                  </a:cubicBezTo>
                  <a:cubicBezTo>
                    <a:pt x="4568317" y="0"/>
                    <a:pt x="5886069" y="990092"/>
                    <a:pt x="5886069" y="2211451"/>
                  </a:cubicBezTo>
                  <a:cubicBezTo>
                    <a:pt x="5886069" y="3432810"/>
                    <a:pt x="4568444" y="4423029"/>
                    <a:pt x="2942971" y="4423029"/>
                  </a:cubicBezTo>
                  <a:cubicBezTo>
                    <a:pt x="1317498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62A0EF">
                <a:alpha val="56078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14983" y="8582663"/>
            <a:ext cx="4048763" cy="3317243"/>
            <a:chOff x="0" y="0"/>
            <a:chExt cx="5398351" cy="442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38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398389">
                  <a:moveTo>
                    <a:pt x="0" y="2211451"/>
                  </a:moveTo>
                  <a:cubicBezTo>
                    <a:pt x="0" y="990092"/>
                    <a:pt x="1208405" y="0"/>
                    <a:pt x="2699131" y="0"/>
                  </a:cubicBezTo>
                  <a:cubicBezTo>
                    <a:pt x="4189857" y="0"/>
                    <a:pt x="5398389" y="990092"/>
                    <a:pt x="5398389" y="2211451"/>
                  </a:cubicBezTo>
                  <a:cubicBezTo>
                    <a:pt x="5398389" y="3432810"/>
                    <a:pt x="4189857" y="4423029"/>
                    <a:pt x="2699131" y="4423029"/>
                  </a:cubicBezTo>
                  <a:cubicBezTo>
                    <a:pt x="1208405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6459200" cy="1046931"/>
            <a:chOff x="0" y="0"/>
            <a:chExt cx="21945600" cy="13959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395908"/>
            </a:xfrm>
            <a:custGeom>
              <a:avLst/>
              <a:gdLst/>
              <a:ahLst/>
              <a:cxnLst/>
              <a:rect r="r" b="b" t="t" l="l"/>
              <a:pathLst>
                <a:path h="13959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95908"/>
                  </a:lnTo>
                  <a:lnTo>
                    <a:pt x="0" y="1395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294" r="0" b="-25436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1945600" cy="15197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Revenue Model</a:t>
              </a:r>
            </a:p>
          </p:txBody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704830" y="2173307"/>
          <a:ext cx="14010153" cy="6361334"/>
        </p:xfrm>
        <a:graphic>
          <a:graphicData uri="http://schemas.openxmlformats.org/drawingml/2006/table">
            <a:tbl>
              <a:tblPr/>
              <a:tblGrid>
                <a:gridCol w="3502538"/>
                <a:gridCol w="3502538"/>
                <a:gridCol w="3413231"/>
                <a:gridCol w="3591845"/>
              </a:tblGrid>
              <a:tr h="10876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Plan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Expenses\Month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What you 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8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Free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Rs.0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Category tracking,streaks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80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Student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Rs.49/month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Adds impulse detector,hidden expenses,goal impact,emergency savings(student ID needed)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77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Basic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Rs.149/month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Unlimited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Everything,including festival planner and expense story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658617"/>
            <a:ext cx="4414523" cy="3317243"/>
            <a:chOff x="0" y="0"/>
            <a:chExt cx="5886031" cy="4422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886069">
                  <a:moveTo>
                    <a:pt x="0" y="2211451"/>
                  </a:moveTo>
                  <a:cubicBezTo>
                    <a:pt x="0" y="990092"/>
                    <a:pt x="1317625" y="0"/>
                    <a:pt x="2942971" y="0"/>
                  </a:cubicBezTo>
                  <a:cubicBezTo>
                    <a:pt x="4568317" y="0"/>
                    <a:pt x="5886069" y="990092"/>
                    <a:pt x="5886069" y="2211451"/>
                  </a:cubicBezTo>
                  <a:cubicBezTo>
                    <a:pt x="5886069" y="3432810"/>
                    <a:pt x="4568444" y="4423029"/>
                    <a:pt x="2942971" y="4423029"/>
                  </a:cubicBezTo>
                  <a:cubicBezTo>
                    <a:pt x="1317498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62A0EF">
                <a:alpha val="56078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14983" y="8582663"/>
            <a:ext cx="4048763" cy="3317243"/>
            <a:chOff x="0" y="0"/>
            <a:chExt cx="5398351" cy="442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389" cy="4423029"/>
            </a:xfrm>
            <a:custGeom>
              <a:avLst/>
              <a:gdLst/>
              <a:ahLst/>
              <a:cxnLst/>
              <a:rect r="r" b="b" t="t" l="l"/>
              <a:pathLst>
                <a:path h="4423029" w="5398389">
                  <a:moveTo>
                    <a:pt x="0" y="2211451"/>
                  </a:moveTo>
                  <a:cubicBezTo>
                    <a:pt x="0" y="990092"/>
                    <a:pt x="1208405" y="0"/>
                    <a:pt x="2699131" y="0"/>
                  </a:cubicBezTo>
                  <a:cubicBezTo>
                    <a:pt x="4189857" y="0"/>
                    <a:pt x="5398389" y="990092"/>
                    <a:pt x="5398389" y="2211451"/>
                  </a:cubicBezTo>
                  <a:cubicBezTo>
                    <a:pt x="5398389" y="3432810"/>
                    <a:pt x="4189857" y="4423029"/>
                    <a:pt x="2699131" y="4423029"/>
                  </a:cubicBezTo>
                  <a:cubicBezTo>
                    <a:pt x="1208405" y="4423029"/>
                    <a:pt x="0" y="3432810"/>
                    <a:pt x="0" y="2211451"/>
                  </a:cubicBezTo>
                  <a:close/>
                </a:path>
              </a:pathLst>
            </a:custGeom>
            <a:solidFill>
              <a:srgbClr val="DCEBFB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1097280"/>
            <a:ext cx="16459200" cy="1097280"/>
            <a:chOff x="0" y="0"/>
            <a:chExt cx="2194560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19456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570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94560" y="2743200"/>
            <a:ext cx="13898880" cy="2194560"/>
            <a:chOff x="0" y="0"/>
            <a:chExt cx="18531840" cy="2926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531839" cy="2926080"/>
            </a:xfrm>
            <a:custGeom>
              <a:avLst/>
              <a:gdLst/>
              <a:ahLst/>
              <a:cxnLst/>
              <a:rect r="r" b="b" t="t" l="l"/>
              <a:pathLst>
                <a:path h="2926080" w="18531839">
                  <a:moveTo>
                    <a:pt x="0" y="0"/>
                  </a:moveTo>
                  <a:lnTo>
                    <a:pt x="18531839" y="0"/>
                  </a:lnTo>
                  <a:lnTo>
                    <a:pt x="18531839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853184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0B3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Expense Tracker moves from logging numbers to changing habits - linking every rupee to a goal, with India's festivals, UPI and cash in mind.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5669280"/>
            <a:ext cx="16459200" cy="1828800"/>
            <a:chOff x="0" y="0"/>
            <a:chExt cx="21945600" cy="2438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0"/>
              <a:ext cx="21945600" cy="2628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59"/>
                </a:lnSpc>
              </a:pPr>
              <a:r>
                <a:rPr lang="en-US" sz="8799" b="true">
                  <a:solidFill>
                    <a:srgbClr val="0B3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DAHZAEBLPM4</dc:identifier>
  <dcterms:modified xsi:type="dcterms:W3CDTF">2011-08-01T06:04:30Z</dcterms:modified>
  <cp:revision>1</cp:revision>
  <dc:title>Expense_Tracker_Mini_Project.pptx</dc:title>
</cp:coreProperties>
</file>